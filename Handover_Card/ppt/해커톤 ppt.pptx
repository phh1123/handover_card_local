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</p:sldIdLst>
  <p:sldSz cx="9144000" cy="5143500" type="screen16x9"/>
  <p:notesSz cx="5143500" cy="9144000"/>
  <p:embeddedFontLst>
    <p:embeddedFont>
      <p:font typeface="NanumGothic" panose="020D0604000000000000" pitchFamily="34" charset="-127"/>
      <p:regular r:id="rId22"/>
      <p:bold r:id="rId23"/>
    </p:embeddedFont>
    <p:embeddedFont>
      <p:font typeface="NANUMGOTHIC EXTRABOLD" panose="020D0604000000000000" pitchFamily="34" charset="-127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92"/>
    <p:restoredTop sz="94610"/>
  </p:normalViewPr>
  <p:slideViewPr>
    <p:cSldViewPr snapToGrid="0" snapToObjects="1">
      <p:cViewPr>
        <p:scale>
          <a:sx n="184" d="100"/>
          <a:sy n="184" d="100"/>
        </p:scale>
        <p:origin x="72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47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E184-2DCD-256A-F740-66971C6A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37872-3E4D-2969-2FF0-2D2FC173A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C39F-5244-056F-8F54-9F9A7E129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56034-BF5E-8CED-3094-3689E3DD3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09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E4574-8668-2DC9-62BE-5123E6EE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DAD86-A44F-ABE7-7AF0-7AA47C896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33B03-5BCE-581D-E32F-0D7BF920F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60702-DCF7-97E1-1E9D-04B2837D8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7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" y="388516"/>
            <a:ext cx="3274740" cy="4366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1936552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 err="1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KoColab</a:t>
            </a:r>
            <a:endParaRPr lang="en-US" sz="2700" b="1" dirty="0">
              <a:solidFill>
                <a:srgbClr val="F0FCFF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  <a:cs typeface="Spline Sans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Handover Card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69023" y="2778323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개발자와 협업을 하는 개발자들을 위한 </a:t>
            </a:r>
            <a:r>
              <a:rPr lang="ko-KR" altLang="en-US" sz="1200" dirty="0">
                <a:solidFill>
                  <a:srgbClr val="16FFB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음성 기반 인계 솔루션</a:t>
            </a:r>
            <a:endParaRPr 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79867" y="1869653"/>
            <a:ext cx="2057376" cy="140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6. 타겟사용자</a:t>
            </a:r>
            <a:endParaRPr lang="ko-KR" sz="120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7. 핵심 기능</a:t>
            </a:r>
            <a:endParaRPr lang="ko-KR" sz="1200" dirty="0"/>
          </a:p>
          <a:p>
            <a:pPr>
              <a:lnSpc>
                <a:spcPct val="133000"/>
              </a:lnSpc>
              <a:spcAft>
                <a:spcPts val="1050"/>
              </a:spcAft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8. 사용자 시나리오</a:t>
            </a:r>
            <a:endParaRPr lang="ko-KR" altLang="ko-KR" sz="1200" dirty="0"/>
          </a:p>
          <a:p>
            <a:pPr>
              <a:lnSpc>
                <a:spcPct val="133000"/>
              </a:lnSpc>
            </a:pPr>
            <a:r>
              <a:rPr lang="en-US" altLang="ko-KR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9.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향후 확장 방향</a:t>
            </a:r>
            <a:endParaRPr lang="en-US" altLang="ko-KR" sz="120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EF1E102-875E-6381-8CC0-40C934405437}"/>
              </a:ext>
            </a:extLst>
          </p:cNvPr>
          <p:cNvSpPr/>
          <p:nvPr/>
        </p:nvSpPr>
        <p:spPr>
          <a:xfrm>
            <a:off x="540023" y="1869654"/>
            <a:ext cx="2057376" cy="140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altLang="ko-KR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1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. 제품 목표</a:t>
            </a:r>
            <a:endParaRPr lang="ko-KR" sz="120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altLang="ko-KR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2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. 배경</a:t>
            </a:r>
            <a:endParaRPr lang="ko-KR" sz="120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altLang="ko-KR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3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. 문제 및 해결 방안</a:t>
            </a:r>
            <a:endParaRPr lang="ko-KR" sz="1200" dirty="0"/>
          </a:p>
          <a:p>
            <a:pPr>
              <a:lnSpc>
                <a:spcPct val="133000"/>
              </a:lnSpc>
              <a:spcAft>
                <a:spcPts val="1050"/>
              </a:spcAft>
            </a:pPr>
            <a:r>
              <a:rPr lang="en-US" altLang="ko-KR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4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. 핵심 기술 흐름</a:t>
            </a:r>
            <a:endParaRPr lang="ko-KR" altLang="ko-KR" sz="1200" dirty="0"/>
          </a:p>
          <a:p>
            <a:pPr>
              <a:lnSpc>
                <a:spcPct val="133000"/>
              </a:lnSpc>
            </a:pPr>
            <a:r>
              <a:rPr lang="en-US" altLang="ko-KR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5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. 차별점</a:t>
            </a:r>
            <a:endParaRPr lang="en-US" altLang="ko-KR" sz="120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85345A6-E5E2-1E62-5A20-94D1B336BA1F}"/>
              </a:ext>
            </a:extLst>
          </p:cNvPr>
          <p:cNvSpPr/>
          <p:nvPr/>
        </p:nvSpPr>
        <p:spPr>
          <a:xfrm>
            <a:off x="540023" y="424309"/>
            <a:ext cx="8063954" cy="40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목차</a:t>
            </a:r>
            <a:endParaRPr lang="ko-KR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40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한 줄 정의</a:t>
            </a:r>
            <a:endParaRPr lang="ko-KR" sz="2550" dirty="0"/>
          </a:p>
        </p:txBody>
      </p:sp>
      <p:sp>
        <p:nvSpPr>
          <p:cNvPr id="3" name="Text 1"/>
          <p:cNvSpPr/>
          <p:nvPr/>
        </p:nvSpPr>
        <p:spPr>
          <a:xfrm>
            <a:off x="760586" y="1270843"/>
            <a:ext cx="8300591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개발자와 협업을 하는 개발자들을 위한 </a:t>
            </a: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비동기 음성 인계 서비스</a:t>
            </a:r>
            <a:endParaRPr lang="ko-KR" sz="1150" dirty="0"/>
          </a:p>
        </p:txBody>
      </p:sp>
      <p:sp>
        <p:nvSpPr>
          <p:cNvPr id="4" name="Shape 2"/>
          <p:cNvSpPr/>
          <p:nvPr/>
        </p:nvSpPr>
        <p:spPr>
          <a:xfrm>
            <a:off x="540023" y="1113160"/>
            <a:ext cx="19050" cy="545083"/>
          </a:xfrm>
          <a:prstGeom prst="roundRect">
            <a:avLst>
              <a:gd name="adj" fmla="val 50000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973610"/>
            <a:ext cx="2589088" cy="2589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92698" y="2873201"/>
            <a:ext cx="5115967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제품 목표</a:t>
            </a:r>
            <a:endParaRPr lang="ko-KR" sz="1400" dirty="0"/>
          </a:p>
        </p:txBody>
      </p:sp>
      <p:sp>
        <p:nvSpPr>
          <p:cNvPr id="7" name="Text 4"/>
          <p:cNvSpPr/>
          <p:nvPr/>
        </p:nvSpPr>
        <p:spPr>
          <a:xfrm>
            <a:off x="3492698" y="3217590"/>
            <a:ext cx="5115967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개발자와 한국인 개발자 사이에서 업무 마무리 후 인계 내용을 </a:t>
            </a:r>
            <a:r>
              <a:rPr lang="ko-KR" altLang="en-US" sz="1150" dirty="0">
                <a:solidFill>
                  <a:srgbClr val="16FFB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음성으로 담아 번역 및 요약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후 인계 카드로 남겨주어 더 효율적인 커뮤니케이션을 가능하게 합니다.</a:t>
            </a:r>
            <a:endParaRPr lang="ko-KR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2" y="385390"/>
            <a:ext cx="3279502" cy="43727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457274"/>
            <a:ext cx="4634954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배경</a:t>
            </a:r>
            <a:endParaRPr lang="ko-KR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1089720"/>
            <a:ext cx="4634954" cy="1102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13696" y="1258193"/>
            <a:ext cx="422180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변화하는 개발 환경</a:t>
            </a:r>
            <a:endParaRPr lang="ko-KR" sz="1300" dirty="0"/>
          </a:p>
        </p:txBody>
      </p:sp>
      <p:sp>
        <p:nvSpPr>
          <p:cNvPr id="7" name="Text 3"/>
          <p:cNvSpPr/>
          <p:nvPr/>
        </p:nvSpPr>
        <p:spPr>
          <a:xfrm>
            <a:off x="4213696" y="1552649"/>
            <a:ext cx="4221807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국내에 외국인 개발자가 늘고 있고, 한국인 개발자가 해외로 나가 업무를 하는 경우가 많습니다.</a:t>
            </a:r>
            <a:endParaRPr lang="ko-KR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9023" y="2336825"/>
            <a:ext cx="4634954" cy="11022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13696" y="2505298"/>
            <a:ext cx="422180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언어 장벽 문제</a:t>
            </a:r>
            <a:endParaRPr lang="ko-KR" sz="1300" dirty="0"/>
          </a:p>
        </p:txBody>
      </p:sp>
      <p:sp>
        <p:nvSpPr>
          <p:cNvPr id="10" name="Text 5"/>
          <p:cNvSpPr/>
          <p:nvPr/>
        </p:nvSpPr>
        <p:spPr>
          <a:xfrm>
            <a:off x="4213696" y="2799755"/>
            <a:ext cx="4221807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개발자가 한국어를 잘하거나, 한국인 개발자가 외국어를 잘하기 위해서 많은 노력이 필요합니다.</a:t>
            </a:r>
            <a:endParaRPr lang="ko-KR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9023" y="3583930"/>
            <a:ext cx="4634954" cy="11022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13696" y="3752404"/>
            <a:ext cx="422180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기존 해결 시도의 한계</a:t>
            </a:r>
            <a:endParaRPr lang="ko-KR" sz="1300" dirty="0"/>
          </a:p>
        </p:txBody>
      </p:sp>
      <p:sp>
        <p:nvSpPr>
          <p:cNvPr id="13" name="Text 7"/>
          <p:cNvSpPr/>
          <p:nvPr/>
        </p:nvSpPr>
        <p:spPr>
          <a:xfrm>
            <a:off x="4213696" y="4046860"/>
            <a:ext cx="4221807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개발자와 원활한 협업을 위해 협회에서 가이드북을 내거나, 외국인 개발자를 상대로 하는 별도의 PM을 고용하는 일도 생겼습니다.</a:t>
            </a:r>
            <a:endParaRPr lang="ko-KR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문제 및 해결 방안</a:t>
            </a:r>
            <a:endParaRPr lang="ko-KR" sz="2550" dirty="0"/>
          </a:p>
        </p:txBody>
      </p:sp>
      <p:sp>
        <p:nvSpPr>
          <p:cNvPr id="3" name="Text 1"/>
          <p:cNvSpPr/>
          <p:nvPr/>
        </p:nvSpPr>
        <p:spPr>
          <a:xfrm>
            <a:off x="540023" y="1464760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Twemoji Mozilla" pitchFamily="34" charset="-120"/>
              </a:rPr>
              <a:t>🔴</a:t>
            </a:r>
            <a:r>
              <a:rPr lang="en-US" altLang="ko-KR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Twemoji Mozilla" pitchFamily="34" charset="-120"/>
              </a:rPr>
              <a:t> </a:t>
            </a:r>
            <a:r>
              <a:rPr lang="ko-KR" altLang="en-US" sz="12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 사용자 문제</a:t>
            </a:r>
            <a:endParaRPr 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540023" y="1784210"/>
            <a:ext cx="439511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개발자에게 인계 카드를 작성하는 데</a:t>
            </a:r>
            <a:endParaRPr lang="en-US" altLang="ko-KR" sz="110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16FFB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언어 장벽으로 인한 불필요한 시간</a:t>
            </a:r>
            <a:r>
              <a:rPr lang="ko-KR" altLang="en-US" sz="11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이 소요됩니다.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540023" y="2197167"/>
            <a:ext cx="3937918" cy="9525"/>
          </a:xfrm>
          <a:prstGeom prst="roundRect">
            <a:avLst>
              <a:gd name="adj" fmla="val 50000"/>
            </a:avLst>
          </a:prstGeom>
          <a:solidFill>
            <a:srgbClr val="E0E4E6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0023" y="2333232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Twemoji Mozilla" pitchFamily="34" charset="-120"/>
              </a:rPr>
              <a:t>✅</a:t>
            </a:r>
            <a:r>
              <a:rPr lang="ko-KR" altLang="en-US" sz="11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 </a:t>
            </a:r>
            <a:r>
              <a:rPr lang="en-US" altLang="ko-KR" sz="11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 </a:t>
            </a:r>
            <a:r>
              <a:rPr lang="ko-KR" altLang="en-US" sz="11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해결 방안</a:t>
            </a:r>
            <a:endParaRPr lang="ko-KR" sz="1100" dirty="0"/>
          </a:p>
        </p:txBody>
      </p:sp>
      <p:sp>
        <p:nvSpPr>
          <p:cNvPr id="7" name="Text 5"/>
          <p:cNvSpPr/>
          <p:nvPr/>
        </p:nvSpPr>
        <p:spPr>
          <a:xfrm>
            <a:off x="540023" y="2608879"/>
            <a:ext cx="439511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음성 입력 → 텍스트 변환 → 번역 → 요약 → 인계 카드 저장 및 확인</a:t>
            </a:r>
            <a:endParaRPr lang="ko-KR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22" y="739825"/>
            <a:ext cx="3937918" cy="39379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4429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핵심 기술 흐름</a:t>
            </a:r>
            <a:endParaRPr lang="ko-KR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489" y="1171649"/>
            <a:ext cx="6270947" cy="28700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8179" y="3372716"/>
            <a:ext cx="1177322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인계 카드 저장</a:t>
            </a:r>
            <a:endParaRPr lang="ko-KR" sz="1250" dirty="0"/>
          </a:p>
        </p:txBody>
      </p:sp>
      <p:sp>
        <p:nvSpPr>
          <p:cNvPr id="5" name="Text 2"/>
          <p:cNvSpPr/>
          <p:nvPr/>
        </p:nvSpPr>
        <p:spPr>
          <a:xfrm>
            <a:off x="4754432" y="3372716"/>
            <a:ext cx="1177321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LLM 요약</a:t>
            </a:r>
            <a:endParaRPr lang="ko-KR" sz="1250" dirty="0"/>
          </a:p>
        </p:txBody>
      </p:sp>
      <p:sp>
        <p:nvSpPr>
          <p:cNvPr id="6" name="Text 3"/>
          <p:cNvSpPr/>
          <p:nvPr/>
        </p:nvSpPr>
        <p:spPr>
          <a:xfrm>
            <a:off x="3278748" y="3372716"/>
            <a:ext cx="1177322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텍스트 변환</a:t>
            </a:r>
            <a:endParaRPr lang="ko-KR" sz="1250" dirty="0"/>
          </a:p>
        </p:txBody>
      </p:sp>
      <p:sp>
        <p:nvSpPr>
          <p:cNvPr id="7" name="Text 4"/>
          <p:cNvSpPr/>
          <p:nvPr/>
        </p:nvSpPr>
        <p:spPr>
          <a:xfrm>
            <a:off x="1770808" y="3372716"/>
            <a:ext cx="1177321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음성 녹음</a:t>
            </a:r>
            <a:endParaRPr lang="ko-KR" sz="1250" dirty="0"/>
          </a:p>
        </p:txBody>
      </p:sp>
      <p:sp>
        <p:nvSpPr>
          <p:cNvPr id="8" name="Text 5"/>
          <p:cNvSpPr/>
          <p:nvPr/>
        </p:nvSpPr>
        <p:spPr>
          <a:xfrm>
            <a:off x="540023" y="4215185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인계자가 음성을 입력하면 텍스트로 변환 후 번역되고, LLM이 요약하여 서버에 저장됩니다.</a:t>
            </a:r>
            <a:endParaRPr lang="en-US" altLang="ko-KR" sz="120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저장된 데이터는 카드 형태로 인수자가 확인할 수 있습니다.</a:t>
            </a:r>
            <a:endParaRPr lang="ko-KR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기존 서비스들</a:t>
            </a:r>
            <a:endParaRPr lang="ko-KR" sz="2550" dirty="0"/>
          </a:p>
        </p:txBody>
      </p:sp>
      <p:sp>
        <p:nvSpPr>
          <p:cNvPr id="3" name="Text 1"/>
          <p:cNvSpPr/>
          <p:nvPr/>
        </p:nvSpPr>
        <p:spPr>
          <a:xfrm>
            <a:off x="540023" y="1033301"/>
            <a:ext cx="3937918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Slack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949747"/>
            <a:ext cx="3937918" cy="3937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70822" y="1000875"/>
            <a:ext cx="3937918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Loom AI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22" y="949747"/>
            <a:ext cx="3937918" cy="39379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612925"/>
            <a:ext cx="2577703" cy="2577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98875" y="1948904"/>
            <a:ext cx="51097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Slack의 방식</a:t>
            </a:r>
            <a:endParaRPr lang="ko-KR" sz="1350" dirty="0"/>
          </a:p>
        </p:txBody>
      </p:sp>
      <p:sp>
        <p:nvSpPr>
          <p:cNvPr id="5" name="Text 2"/>
          <p:cNvSpPr/>
          <p:nvPr/>
        </p:nvSpPr>
        <p:spPr>
          <a:xfrm>
            <a:off x="3498875" y="2317477"/>
            <a:ext cx="556699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사람이 직접 인계할 내용을 타이핑해야 합니다.</a:t>
            </a:r>
            <a:endParaRPr lang="ko-KR" sz="1200" dirty="0"/>
          </a:p>
        </p:txBody>
      </p:sp>
      <p:sp>
        <p:nvSpPr>
          <p:cNvPr id="6" name="Shape 3"/>
          <p:cNvSpPr/>
          <p:nvPr/>
        </p:nvSpPr>
        <p:spPr>
          <a:xfrm>
            <a:off x="3498875" y="2776463"/>
            <a:ext cx="5109790" cy="19050"/>
          </a:xfrm>
          <a:prstGeom prst="roundRect">
            <a:avLst>
              <a:gd name="adj" fmla="val 50000"/>
            </a:avLst>
          </a:prstGeom>
          <a:solidFill>
            <a:srgbClr val="E0E4E6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498875" y="3007593"/>
            <a:ext cx="51097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16FFBB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우리 제품의 차별점</a:t>
            </a:r>
            <a:endParaRPr lang="ko-KR" sz="1350" dirty="0"/>
          </a:p>
        </p:txBody>
      </p:sp>
      <p:sp>
        <p:nvSpPr>
          <p:cNvPr id="8" name="Text 5"/>
          <p:cNvSpPr/>
          <p:nvPr/>
        </p:nvSpPr>
        <p:spPr>
          <a:xfrm>
            <a:off x="3498875" y="3376166"/>
            <a:ext cx="5109790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음성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을 통해 인계할 내용을 작성합니다.</a:t>
            </a:r>
            <a:endParaRPr lang="en-US" altLang="ko-KR" sz="120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타이핑 없이 말로 인계를 전달할 수 있습니다.</a:t>
            </a:r>
            <a:endParaRPr lang="ko-KR" sz="12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5588549E-239D-1776-7B5B-D8D32D4CD432}"/>
              </a:ext>
            </a:extLst>
          </p:cNvPr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24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차별점: </a:t>
            </a:r>
            <a:r>
              <a:rPr lang="ko-KR" altLang="en-US" sz="2400" b="1" dirty="0" err="1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Slack</a:t>
            </a:r>
            <a:endParaRPr lang="ko-KR" altLang="ko-KR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0023" y="1283766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Loom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0023" y="1623256"/>
            <a:ext cx="3937918" cy="30465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전부 </a:t>
            </a:r>
            <a:r>
              <a:rPr lang="ko-KR" altLang="en-US" sz="14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단일 언어</a:t>
            </a: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를 전제로 함</a:t>
            </a:r>
            <a:endParaRPr lang="ko-KR" sz="14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영상 </a:t>
            </a:r>
            <a:r>
              <a:rPr lang="ko-KR" altLang="en-US" sz="14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시청 여부</a:t>
            </a: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를 목적으로 함</a:t>
            </a:r>
            <a:endParaRPr lang="ko-KR" sz="14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영상을 시청해야 하는 지를 판단하기 위한</a:t>
            </a:r>
            <a:r>
              <a:rPr lang="en-US" altLang="ko-KR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</a:t>
            </a: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목적으로 요약을 만듦</a:t>
            </a:r>
            <a:endParaRPr lang="ko-KR" sz="1400" dirty="0"/>
          </a:p>
        </p:txBody>
      </p:sp>
      <p:sp>
        <p:nvSpPr>
          <p:cNvPr id="5" name="Shape 3"/>
          <p:cNvSpPr/>
          <p:nvPr/>
        </p:nvSpPr>
        <p:spPr>
          <a:xfrm>
            <a:off x="540023" y="2691723"/>
            <a:ext cx="3937918" cy="9525"/>
          </a:xfrm>
          <a:prstGeom prst="roundRect">
            <a:avLst>
              <a:gd name="adj" fmla="val 50000"/>
            </a:avLst>
          </a:prstGeom>
          <a:solidFill>
            <a:srgbClr val="E0E4E6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0023" y="2841724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6FFBB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우리 제품의 차별점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540023" y="3188465"/>
            <a:ext cx="3937918" cy="19861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ko-KR" altLang="en-US" sz="14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언어와 언어 간의 소통</a:t>
            </a: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이 목적</a:t>
            </a:r>
            <a:endParaRPr lang="ko-KR" sz="14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음성을 </a:t>
            </a:r>
            <a:r>
              <a:rPr lang="ko-KR" altLang="en-US" sz="14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듣지 않기 위한 목적</a:t>
            </a:r>
            <a:r>
              <a:rPr lang="ko-KR" altLang="en-US" sz="14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으로 요약을 만듦</a:t>
            </a:r>
            <a:endParaRPr lang="ko-KR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22" y="739825"/>
            <a:ext cx="3937918" cy="3937918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442E51EA-DAA6-A946-8D3D-34915A1F8162}"/>
              </a:ext>
            </a:extLst>
          </p:cNvPr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ko-KR" altLang="en-US" sz="24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차별점: </a:t>
            </a:r>
            <a:r>
              <a:rPr lang="ko-KR" altLang="en-US" sz="2400" b="1" dirty="0" err="1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Loom</a:t>
            </a:r>
            <a:r>
              <a:rPr lang="ko-KR" altLang="en-US" sz="24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 AI</a:t>
            </a:r>
            <a:endParaRPr lang="ko-KR" altLang="ko-KR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" y="388516"/>
            <a:ext cx="3274740" cy="4366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1140693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타겟 사용자</a:t>
            </a:r>
            <a:endParaRPr lang="ko-KR" sz="2700" dirty="0"/>
          </a:p>
        </p:txBody>
      </p:sp>
      <p:sp>
        <p:nvSpPr>
          <p:cNvPr id="5" name="Shape 2"/>
          <p:cNvSpPr/>
          <p:nvPr/>
        </p:nvSpPr>
        <p:spPr>
          <a:xfrm>
            <a:off x="3969023" y="1800746"/>
            <a:ext cx="4634954" cy="900410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42333" y="1974056"/>
            <a:ext cx="42883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주요 타겟</a:t>
            </a:r>
            <a:endParaRPr lang="ko-KR" sz="1350" dirty="0"/>
          </a:p>
        </p:txBody>
      </p:sp>
      <p:sp>
        <p:nvSpPr>
          <p:cNvPr id="7" name="Text 4"/>
          <p:cNvSpPr/>
          <p:nvPr/>
        </p:nvSpPr>
        <p:spPr>
          <a:xfrm>
            <a:off x="4142333" y="2280940"/>
            <a:ext cx="428833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외국인 개발자와 협업을 하는 </a:t>
            </a:r>
            <a:r>
              <a:rPr lang="ko-KR" altLang="en-US" sz="12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모든 개발자</a:t>
            </a:r>
            <a:endParaRPr lang="ko-KR" sz="1200" dirty="0"/>
          </a:p>
        </p:txBody>
      </p:sp>
      <p:sp>
        <p:nvSpPr>
          <p:cNvPr id="8" name="Shape 5"/>
          <p:cNvSpPr/>
          <p:nvPr/>
        </p:nvSpPr>
        <p:spPr>
          <a:xfrm>
            <a:off x="3969023" y="2855416"/>
            <a:ext cx="4634954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142333" y="3028727"/>
            <a:ext cx="42883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E0E4E6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확장 가능성</a:t>
            </a:r>
            <a:endParaRPr lang="ko-KR" sz="1350" dirty="0"/>
          </a:p>
        </p:txBody>
      </p:sp>
      <p:sp>
        <p:nvSpPr>
          <p:cNvPr id="10" name="Text 7"/>
          <p:cNvSpPr/>
          <p:nvPr/>
        </p:nvSpPr>
        <p:spPr>
          <a:xfrm>
            <a:off x="4142333" y="3335610"/>
            <a:ext cx="428833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개발 외 다른 분야에서도 외국인과의 협업을 위해 </a:t>
            </a:r>
            <a:r>
              <a:rPr lang="ko-KR" altLang="en-US" sz="120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인계 카드가 필요한 곳</a:t>
            </a: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이라면 어디든 사용 가능</a:t>
            </a:r>
            <a:endParaRPr lang="ko-KR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5443"/>
            <a:ext cx="8063954" cy="33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5가지 핵심 기능 영역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835447"/>
            <a:ext cx="8063954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57" y="1267681"/>
            <a:ext cx="224210" cy="2242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5723" y="126027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다국어 음성 인계 작성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— 음성 녹음 및 제출, 텍스트 변환 확인</a:t>
            </a:r>
            <a:endParaRPr lang="ko-KR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057" y="2013161"/>
            <a:ext cx="224210" cy="2242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5723" y="200575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번역 및 요약 생성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— 언어 선택, 번역·요약 자동 생성</a:t>
            </a:r>
            <a:endParaRPr lang="ko-KR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057" y="2758641"/>
            <a:ext cx="224210" cy="2242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5723" y="275123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인계 카드 생성 및 저장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— 카드 저장 및 상세 표시</a:t>
            </a:r>
            <a:endParaRPr lang="ko-KR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6057" y="3504121"/>
            <a:ext cx="224210" cy="2242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5723" y="349671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인수자용 카드 확인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— 수신 목록 조회 및 열람 확인</a:t>
            </a:r>
            <a:endParaRPr lang="ko-KR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57" y="4249601"/>
            <a:ext cx="224210" cy="22421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25723" y="424219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계정 및 인수자 지정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— 계정 생성·로그인, 인수자 지정</a:t>
            </a:r>
            <a:endParaRPr lang="ko-KR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97671"/>
            <a:ext cx="3855541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  로그인</a:t>
            </a:r>
            <a:endParaRPr lang="ko-KR" sz="2500" dirty="0"/>
          </a:p>
        </p:txBody>
      </p:sp>
      <p:sp>
        <p:nvSpPr>
          <p:cNvPr id="3" name="Text 1"/>
          <p:cNvSpPr/>
          <p:nvPr/>
        </p:nvSpPr>
        <p:spPr>
          <a:xfrm>
            <a:off x="540023" y="2735089"/>
            <a:ext cx="4312741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1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   회원가입후 로그인을한다</a:t>
            </a:r>
            <a:endParaRPr lang="ko-KR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198" y="586755"/>
            <a:ext cx="3380705" cy="36236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3198" y="4362971"/>
            <a:ext cx="4312741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64482"/>
            <a:ext cx="3843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새 인계카드 만들기 1</a:t>
            </a:r>
            <a:endParaRPr lang="ko-KR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747367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직접 녹음하거나 미리 녹음한 파일을 올린다</a:t>
            </a:r>
            <a:endParaRPr lang="ko-KR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956" y="946026"/>
            <a:ext cx="3843784" cy="28656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4956" y="3985171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64556"/>
            <a:ext cx="3843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새 인계카드 만들기 2</a:t>
            </a:r>
            <a:endParaRPr lang="ko-KR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747442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변역할 언어를 고르고 만들기버튼을 누룬다</a:t>
            </a:r>
            <a:endParaRPr lang="ko-KR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956" y="1066800"/>
            <a:ext cx="3843784" cy="2624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4956" y="3864471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64556"/>
            <a:ext cx="3843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인계카드 결과</a:t>
            </a:r>
            <a:endParaRPr lang="ko-KR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747442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핵심내용, 할일, 이슈등을 요약해준다</a:t>
            </a:r>
            <a:endParaRPr lang="ko-KR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956" y="1143298"/>
            <a:ext cx="3843784" cy="24711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4956" y="3787973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64482"/>
            <a:ext cx="3843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인계카드 결과</a:t>
            </a:r>
            <a:endParaRPr lang="ko-KR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747367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녹음한내용을 번역해주며 녹음한 내용도보여준다</a:t>
            </a:r>
            <a:endParaRPr lang="ko-KR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956" y="1438349"/>
            <a:ext cx="3843784" cy="18809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4956" y="3492847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164482"/>
            <a:ext cx="3843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인계카드</a:t>
            </a:r>
            <a:endParaRPr lang="ko-KR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747367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메일처럼 확인도 가능하다</a:t>
            </a:r>
            <a:endParaRPr lang="ko-KR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956" y="1740374"/>
            <a:ext cx="3843784" cy="125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4956" y="3177853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D4169-0C7E-0A2D-4C51-060A9A8D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D9A464-6011-F178-E76C-676FD2C31224}"/>
              </a:ext>
            </a:extLst>
          </p:cNvPr>
          <p:cNvSpPr/>
          <p:nvPr/>
        </p:nvSpPr>
        <p:spPr>
          <a:xfrm>
            <a:off x="540023" y="445443"/>
            <a:ext cx="8063954" cy="33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향후 확장 방향</a:t>
            </a:r>
            <a:endParaRPr lang="ko-KR" sz="2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60627C8-A49F-833F-5B35-6725803DC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57" y="1267681"/>
            <a:ext cx="224210" cy="22421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02C29CA-D068-AB2C-D1E1-B3DC923CC701}"/>
              </a:ext>
            </a:extLst>
          </p:cNvPr>
          <p:cNvSpPr/>
          <p:nvPr/>
        </p:nvSpPr>
        <p:spPr>
          <a:xfrm>
            <a:off x="1025723" y="126027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알림 기능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 </a:t>
            </a:r>
            <a:endParaRPr lang="en-US" altLang="ko-KR" sz="115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Slack 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또는 등록된 메일로 알림</a:t>
            </a:r>
            <a:endParaRPr lang="ko-KR" sz="11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74250BC-DF88-E0F2-C070-51F7DC7CC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057" y="2013161"/>
            <a:ext cx="224210" cy="22421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1603FA71-E050-345D-CDCA-CBAD9086108D}"/>
              </a:ext>
            </a:extLst>
          </p:cNvPr>
          <p:cNvSpPr/>
          <p:nvPr/>
        </p:nvSpPr>
        <p:spPr>
          <a:xfrm>
            <a:off x="1025723" y="2005757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실시간 영상 통화 기능</a:t>
            </a:r>
            <a:endParaRPr lang="en-US" altLang="ko-KR" sz="115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Agora 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서비스를 이용한 외국인 개발자와의 실시간 영상 통화</a:t>
            </a:r>
            <a:endParaRPr lang="en-US" altLang="ko-KR" sz="115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" pitchFamily="34" charset="-120"/>
              </a:rPr>
              <a:t>통화 종료 후 인계 카드 작성 기능</a:t>
            </a:r>
            <a:endParaRPr lang="en-US" altLang="ko-KR" sz="115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6F210839-CA95-1F16-6D8B-7A4ECB5526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057" y="2890259"/>
            <a:ext cx="224210" cy="22421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17381263-91F2-3A20-020F-D379A0F3E631}"/>
              </a:ext>
            </a:extLst>
          </p:cNvPr>
          <p:cNvSpPr/>
          <p:nvPr/>
        </p:nvSpPr>
        <p:spPr>
          <a:xfrm>
            <a:off x="1025723" y="2882855"/>
            <a:ext cx="75782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150" b="1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Barlow Bold" pitchFamily="34" charset="-120"/>
              </a:rPr>
              <a:t>클라우드 서비스화</a:t>
            </a:r>
            <a:endParaRPr lang="en-US" altLang="ko-KR" sz="115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Barlow" pitchFamily="34" charset="-120"/>
            </a:endParaRP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조직 단위 워크스페이스 </a:t>
            </a:r>
            <a:r>
              <a:rPr lang="en-US" altLang="ko-KR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(B2B)</a:t>
            </a: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개인 간 인계   ㅡ</a:t>
            </a:r>
            <a:r>
              <a:rPr lang="en-US" altLang="ko-KR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&gt;  </a:t>
            </a:r>
            <a:r>
              <a:rPr lang="ko-KR" altLang="en-US" sz="1150" dirty="0">
                <a:solidFill>
                  <a:srgbClr val="E0E4E6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조직 단위 인계</a:t>
            </a:r>
            <a:endParaRPr lang="en-US" altLang="ko-KR" sz="1150" dirty="0">
              <a:solidFill>
                <a:srgbClr val="E0E4E6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5782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0DC6-D641-9510-8557-F0F88065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6D6363E2-AE28-3A42-A78D-5B9BC8CC905B}"/>
              </a:ext>
            </a:extLst>
          </p:cNvPr>
          <p:cNvSpPr/>
          <p:nvPr/>
        </p:nvSpPr>
        <p:spPr>
          <a:xfrm>
            <a:off x="2650108" y="2143125"/>
            <a:ext cx="3843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감사합니다</a:t>
            </a:r>
            <a:r>
              <a:rPr lang="en-US" altLang="ko-KR" sz="2700" b="1" dirty="0">
                <a:solidFill>
                  <a:srgbClr val="F0FCFF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Spline Sans Bold" pitchFamily="34" charset="-120"/>
              </a:rPr>
              <a:t>.</a:t>
            </a:r>
            <a:endParaRPr lang="ko-KR" sz="2700" dirty="0"/>
          </a:p>
        </p:txBody>
      </p:sp>
    </p:spTree>
    <p:extLst>
      <p:ext uri="{BB962C8B-B14F-4D97-AF65-F5344CB8AC3E}">
        <p14:creationId xmlns:p14="http://schemas.microsoft.com/office/powerpoint/2010/main" val="1959022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497</Words>
  <Application>Microsoft Macintosh PowerPoint</Application>
  <PresentationFormat>화면 슬라이드 쇼(16:9)</PresentationFormat>
  <Paragraphs>106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NanumGothic</vt:lpstr>
      <vt:lpstr>NANUMGOTHIC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sssss sss</cp:lastModifiedBy>
  <cp:revision>7</cp:revision>
  <dcterms:created xsi:type="dcterms:W3CDTF">2026-08-17T03:38:15Z</dcterms:created>
  <dcterms:modified xsi:type="dcterms:W3CDTF">2026-08-18T08:30:50Z</dcterms:modified>
</cp:coreProperties>
</file>